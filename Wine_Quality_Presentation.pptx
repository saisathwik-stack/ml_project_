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DFE4C-2163-4D84-B87D-47943D7660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DA077-E112-4CC6-9E1E-D3D174F16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464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DA077-E112-4CC6-9E1E-D3D174F1643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6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5F5"/>
                </a:solidFill>
              </a:defRPr>
            </a:pPr>
            <a:r>
              <a:t>PREDICTIVE ANALYSIS OF WINE QUALITY</a:t>
            </a:r>
          </a:p>
          <a:p>
            <a:pPr>
              <a:defRPr sz="2400">
                <a:solidFill>
                  <a:srgbClr val="AFAFB4"/>
                </a:solidFill>
              </a:defRPr>
            </a:pPr>
            <a:r>
              <a:t>AND PREFERENCES USING MACHINE LEARNING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377892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rPr dirty="0"/>
              <a:t>MINI HACKATHON 1 • 24–29 AUGUST 2026</a:t>
            </a:r>
          </a:p>
          <a:p>
            <a:pPr>
              <a:spcAft>
                <a:spcPts val="600"/>
              </a:spcAft>
              <a:defRPr sz="1400">
                <a:solidFill>
                  <a:srgbClr val="AFAFB4"/>
                </a:solidFill>
              </a:defRPr>
            </a:pPr>
            <a:r>
              <a:rPr dirty="0"/>
              <a:t>G Sai Sathwik — 2520030328</a:t>
            </a:r>
          </a:p>
          <a:p>
            <a:pPr>
              <a:spcAft>
                <a:spcPts val="600"/>
              </a:spcAft>
              <a:defRPr sz="1400">
                <a:solidFill>
                  <a:srgbClr val="AFAFB4"/>
                </a:solidFill>
              </a:defRPr>
            </a:pPr>
            <a:r>
              <a:rPr dirty="0"/>
              <a:t>Guide: Dr. Shaik Asif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Why automate wine-quality assessment?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Human sensory evaluation is valuable but subjective and difficult to scale.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Physicochemical laboratory measurements are objective, repeatable and available before final certification.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Goal: learn the mapping between chemical properties and sensory quality.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Primary output: Poor / Average / Excellent quality category.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Secondary output: predicted numeric quality score for future extension.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2.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What the project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Identify and structure the Wine Quality dataset.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Perform systematic EDA: distributions, imbalance, correlations and feature relationships.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Compare Logistic Regression, SVM, Random Forest and Gradient Boosting.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Use macro-F1 in addition to accuracy because rare quality classes matter.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Build a lightweight prediction prototype.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3.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UCI Wine Quality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Source: UCI Wine Quality dataset — red and white Vinho Verde samples.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Official dataset: 4,898 white + 1,599 red samples; 11 physicochemical inputs + quality score.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Inputs: acidity, volatile acidity, citric acid, sugar, chlorides, SO₂, density, pH, sulphates and alcohol.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Target: sensory quality score on an ordered scale.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Project addition: wine_type + derived quality_class.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FAFB4"/>
                </a:solidFill>
              </a:defRPr>
            </a:pPr>
            <a:r>
              <a:t>DATA INTEGRITY NOTE: bundled offline CSV = reproducible synthetic demonstration aligned to UCI structure; use official UCI CSVs for final empirical claims.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4. Data Dictionary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The 11 physicochemical predictors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555591"/>
              </p:ext>
            </p:extLst>
          </p:nvPr>
        </p:nvGraphicFramePr>
        <p:xfrm>
          <a:off x="685800" y="1371600"/>
          <a:ext cx="107899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Acidity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fixed acidity • volatile acidity • citric acid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Chemical inputs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residual sugar • chlorides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Chemical inputs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Sulfur dioxide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free SO₂ • total SO₂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Preservation/chemistry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Physical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density • 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Physical/chemical inputs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Flavor/strength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sulphates • alcohol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Chemical inputs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Sensory 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5.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End-to-end ML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23160"/>
            <a:ext cx="1188720" cy="1051560"/>
          </a:xfrm>
          <a:prstGeom prst="roundRect">
            <a:avLst/>
          </a:prstGeom>
          <a:solidFill>
            <a:srgbClr val="232327"/>
          </a:solidFill>
          <a:ln>
            <a:solidFill>
              <a:srgbClr val="5A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5F5F5"/>
                </a:solidFill>
              </a:defRPr>
            </a:pPr>
            <a:r>
              <a:t>Data acquisition</a:t>
            </a:r>
          </a:p>
        </p:txBody>
      </p:sp>
      <p:sp>
        <p:nvSpPr>
          <p:cNvPr id="6" name="Chevron 5"/>
          <p:cNvSpPr/>
          <p:nvPr/>
        </p:nvSpPr>
        <p:spPr>
          <a:xfrm>
            <a:off x="1673352" y="2761488"/>
            <a:ext cx="246888" cy="411480"/>
          </a:xfrm>
          <a:prstGeom prst="chevron">
            <a:avLst/>
          </a:prstGeom>
          <a:solidFill>
            <a:srgbClr val="AF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947672" y="2423160"/>
            <a:ext cx="1188720" cy="1051560"/>
          </a:xfrm>
          <a:prstGeom prst="roundRect">
            <a:avLst/>
          </a:prstGeom>
          <a:solidFill>
            <a:srgbClr val="232327"/>
          </a:solidFill>
          <a:ln>
            <a:solidFill>
              <a:srgbClr val="5A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5F5F5"/>
                </a:solidFill>
              </a:defRPr>
            </a:pPr>
            <a:r>
              <a:t>Cleaning &amp; validation</a:t>
            </a:r>
          </a:p>
        </p:txBody>
      </p:sp>
      <p:sp>
        <p:nvSpPr>
          <p:cNvPr id="8" name="Chevron 7"/>
          <p:cNvSpPr/>
          <p:nvPr/>
        </p:nvSpPr>
        <p:spPr>
          <a:xfrm>
            <a:off x="3118104" y="2761488"/>
            <a:ext cx="246888" cy="411480"/>
          </a:xfrm>
          <a:prstGeom prst="chevron">
            <a:avLst/>
          </a:prstGeom>
          <a:solidFill>
            <a:srgbClr val="AF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92424" y="2423160"/>
            <a:ext cx="1188720" cy="1051560"/>
          </a:xfrm>
          <a:prstGeom prst="roundRect">
            <a:avLst/>
          </a:prstGeom>
          <a:solidFill>
            <a:srgbClr val="232327"/>
          </a:solidFill>
          <a:ln>
            <a:solidFill>
              <a:srgbClr val="5A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5F5F5"/>
                </a:solidFill>
              </a:defRPr>
            </a:pPr>
            <a:r>
              <a:t>EDA</a:t>
            </a:r>
          </a:p>
        </p:txBody>
      </p:sp>
      <p:sp>
        <p:nvSpPr>
          <p:cNvPr id="10" name="Chevron 9"/>
          <p:cNvSpPr/>
          <p:nvPr/>
        </p:nvSpPr>
        <p:spPr>
          <a:xfrm>
            <a:off x="4562856" y="2761488"/>
            <a:ext cx="246888" cy="411480"/>
          </a:xfrm>
          <a:prstGeom prst="chevron">
            <a:avLst/>
          </a:prstGeom>
          <a:solidFill>
            <a:srgbClr val="AF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37176" y="2423160"/>
            <a:ext cx="1188720" cy="1051560"/>
          </a:xfrm>
          <a:prstGeom prst="roundRect">
            <a:avLst/>
          </a:prstGeom>
          <a:solidFill>
            <a:srgbClr val="232327"/>
          </a:solidFill>
          <a:ln>
            <a:solidFill>
              <a:srgbClr val="5A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5F5F5"/>
                </a:solidFill>
              </a:defRPr>
            </a:pPr>
            <a:r>
              <a:t>Feature engineering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6007608" y="2761488"/>
            <a:ext cx="246888" cy="411480"/>
          </a:xfrm>
          <a:prstGeom prst="chevron">
            <a:avLst/>
          </a:prstGeom>
          <a:solidFill>
            <a:srgbClr val="AF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81928" y="2423160"/>
            <a:ext cx="1188720" cy="1051560"/>
          </a:xfrm>
          <a:prstGeom prst="roundRect">
            <a:avLst/>
          </a:prstGeom>
          <a:solidFill>
            <a:srgbClr val="232327"/>
          </a:solidFill>
          <a:ln>
            <a:solidFill>
              <a:srgbClr val="5A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5F5F5"/>
                </a:solidFill>
              </a:defRPr>
            </a:pPr>
            <a:r>
              <a:t>Train/test split</a:t>
            </a:r>
          </a:p>
        </p:txBody>
      </p:sp>
      <p:sp>
        <p:nvSpPr>
          <p:cNvPr id="14" name="Chevron 13"/>
          <p:cNvSpPr/>
          <p:nvPr/>
        </p:nvSpPr>
        <p:spPr>
          <a:xfrm>
            <a:off x="7452360" y="2761488"/>
            <a:ext cx="246888" cy="411480"/>
          </a:xfrm>
          <a:prstGeom prst="chevron">
            <a:avLst/>
          </a:prstGeom>
          <a:solidFill>
            <a:srgbClr val="AF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26680" y="2423160"/>
            <a:ext cx="1188720" cy="1051560"/>
          </a:xfrm>
          <a:prstGeom prst="roundRect">
            <a:avLst/>
          </a:prstGeom>
          <a:solidFill>
            <a:srgbClr val="232327"/>
          </a:solidFill>
          <a:ln>
            <a:solidFill>
              <a:srgbClr val="5A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5F5F5"/>
                </a:solidFill>
              </a:defRPr>
            </a:pPr>
            <a:r>
              <a:t>Model comparison</a:t>
            </a:r>
          </a:p>
        </p:txBody>
      </p:sp>
      <p:sp>
        <p:nvSpPr>
          <p:cNvPr id="16" name="Chevron 15"/>
          <p:cNvSpPr/>
          <p:nvPr/>
        </p:nvSpPr>
        <p:spPr>
          <a:xfrm>
            <a:off x="8897112" y="2761488"/>
            <a:ext cx="246888" cy="411480"/>
          </a:xfrm>
          <a:prstGeom prst="chevron">
            <a:avLst/>
          </a:prstGeom>
          <a:solidFill>
            <a:srgbClr val="AF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71432" y="2423160"/>
            <a:ext cx="1188720" cy="1051560"/>
          </a:xfrm>
          <a:prstGeom prst="roundRect">
            <a:avLst/>
          </a:prstGeom>
          <a:solidFill>
            <a:srgbClr val="232327"/>
          </a:solidFill>
          <a:ln>
            <a:solidFill>
              <a:srgbClr val="5A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5F5F5"/>
                </a:solidFill>
              </a:defRPr>
            </a:pPr>
            <a:r>
              <a:t>Interpretation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10341864" y="2761488"/>
            <a:ext cx="246888" cy="411480"/>
          </a:xfrm>
          <a:prstGeom prst="chevron">
            <a:avLst/>
          </a:prstGeom>
          <a:solidFill>
            <a:srgbClr val="AF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616184" y="2423160"/>
            <a:ext cx="1188720" cy="1051560"/>
          </a:xfrm>
          <a:prstGeom prst="roundRect">
            <a:avLst/>
          </a:prstGeom>
          <a:solidFill>
            <a:srgbClr val="232327"/>
          </a:solidFill>
          <a:ln>
            <a:solidFill>
              <a:srgbClr val="5A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5F5F5"/>
                </a:solidFill>
              </a:defRPr>
            </a:pPr>
            <a:r>
              <a:t>Prototype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6. EDA — Target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Quality is highly concentrated in the middle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pic>
        <p:nvPicPr>
          <p:cNvPr id="5" name="Picture 4" descr="01_qualit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7607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6002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Most observations belong to quality 5–6.</a:t>
            </a:r>
          </a:p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Very low and very high quality scores are rare.</a:t>
            </a:r>
          </a:p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Class imbalance makes accuracy alone insufficient.</a:t>
            </a:r>
          </a:p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Macro-F1 is therefore included in model selection.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7. EDA — Key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Which measurements move with quality?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pic>
        <p:nvPicPr>
          <p:cNvPr id="5" name="Picture 4" descr="03_alcohol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577840" cy="3098800"/>
          </a:xfrm>
          <a:prstGeom prst="rect">
            <a:avLst/>
          </a:prstGeom>
        </p:spPr>
      </p:pic>
      <p:pic>
        <p:nvPicPr>
          <p:cNvPr id="6" name="Picture 5" descr="04_volatile_acid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21208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8. EDA — 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Relationships among physicochemical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pic>
        <p:nvPicPr>
          <p:cNvPr id="5" name="Picture 4" descr="05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669280" cy="45354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0" y="15087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Strongest positive signal in the demonstration: alcohol (corr ≈ 0.40).</a:t>
            </a:r>
          </a:p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Strongest negative signal: chlorides (corr ≈ -0.42).</a:t>
            </a:r>
          </a:p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Correlations are useful for screening, but they do not prove causation.</a:t>
            </a:r>
          </a:p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Nonlinear models can capture interactions missed by linear correlation.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9.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Why compare four model families?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Logistic Regression — transparent linear baseline.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SVM (RBF) — nonlinear boundaries; directly connected to the 2009 wine-preference study.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Random Forest — nonlinear ensemble + feature importance.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Gradient Boosting — sequential ensemble model for complex patterns.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Final selection should consider both overall performance and minority-class behavior.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10. 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Demonstration split — 80/20 stratified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pic>
        <p:nvPicPr>
          <p:cNvPr id="5" name="Picture 4" descr="06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669280" cy="31496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46520" y="1508760"/>
          <a:ext cx="5074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0.804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0.619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SVM (RBF)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0.685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0.560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0.814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0.555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0.632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0.531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507492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5F5"/>
                </a:solidFill>
              </a:defRPr>
            </a:pPr>
            <a:r>
              <a:t>Best by macro-F1: Random Forest (0.619)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11.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Confusion matrix of the selected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pic>
        <p:nvPicPr>
          <p:cNvPr id="5" name="Picture 4" descr="07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5029200" cy="4255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Most errors occur between neighboring quality categories.</a:t>
            </a:r>
          </a:p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Rare Poor and Excellent cases are harder to classify reliably.</a:t>
            </a:r>
          </a:p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Macro-F1 exposes this weakness better than raw accuracy.</a:t>
            </a:r>
          </a:p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External validation is required before any production 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12.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Top Random Forest feature importances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pic>
        <p:nvPicPr>
          <p:cNvPr id="5" name="Picture 4" descr="08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400800" cy="355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64592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Top features are ranked by Random Forest impurity-based importance.</a:t>
            </a:r>
          </a:p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Feature importance indicates predictive usefulness, not causal influence.</a:t>
            </a:r>
          </a:p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Future version: SHAP explanations for individual predictions.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13. Research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Papers that justify the algorithm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Cortez et al. (2009), Decision Support Systems — modeled human wine taste preferences from physicochemical tests and reported promising SVM performance.</a:t>
            </a:r>
          </a:p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Bhardwaj et al. (2022), Machine Learning with Applications — used synthetic-data-assisted wine-quality prediction, feature selection and ensemble methods.</a:t>
            </a:r>
          </a:p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Research takeaway: combine objective chemistry features, careful model selection and interpretable evaluation.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14.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Wine Quality AI — Streamlit decision-support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pic>
        <p:nvPicPr>
          <p:cNvPr id="5" name="Picture 4" descr="09_prototype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7315200" cy="3522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82880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Input → model → quality class</a:t>
            </a:r>
          </a:p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Probability display when available</a:t>
            </a:r>
          </a:p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Designed for demonstration, not certification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15.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From hackathon prototype to deployable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End-to-end workflow completed: problem → dataset → EDA → algorithms → evaluation → prototype.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Key challenge: imbalanced, overlapping quality classes.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Best demonstration model selected using macro-F1 rather than accuracy alone.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t>Future: official UCI rerun, SHAP, calibration, ordinal models, external validation and real consumer-preference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16.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AFB4"/>
                </a:solidFill>
              </a:defRPr>
            </a:pPr>
            <a:r>
              <a:t>Primary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AFB4"/>
                </a:solidFill>
              </a:defRPr>
            </a:pPr>
            <a:r>
              <a:t>KL UNIVERSITY • MINI HACKATHON 1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UCI Machine Learning Repository — Wine Quality dataset, DOI 10.24432/C56S3T.</a:t>
            </a:r>
          </a:p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Cortez, P., Cerdeira, A., Almeida, F., Matos, T., &amp; Reis, J. (2009). Modeling wine preferences by data mining from physicochemical properties. Decision Support Systems, 47(4), 547–553.</a:t>
            </a:r>
          </a:p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Bhardwaj, P., Tiwari, P., Olejar, K., Parr, W., &amp; Kulasiri, D. (2022). A machine learning application in wine quality prediction. Machine Learning with Applications, 8, 100261.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1061</Words>
  <Application>Microsoft Office PowerPoint</Application>
  <PresentationFormat>Widescreen</PresentationFormat>
  <Paragraphs>154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Nihal Metuku</cp:lastModifiedBy>
  <cp:revision>2</cp:revision>
  <dcterms:created xsi:type="dcterms:W3CDTF">2013-01-27T09:14:16Z</dcterms:created>
  <dcterms:modified xsi:type="dcterms:W3CDTF">2026-08-28T06:40:21Z</dcterms:modified>
  <cp:category/>
</cp:coreProperties>
</file>